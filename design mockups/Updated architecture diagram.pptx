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9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9435-2149-6281-C9FE-56052BE87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405B0-B016-62B3-D253-F54D10676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9E240-FB4F-F692-CB66-BD5D0E5E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A2DC-A5E9-427C-B507-7A97A025D99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AF6E3-12EA-9300-F5AE-6B229A761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43AB5-5E6F-0D93-1638-1F55D0A2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EB5-D390-4D4C-A3BB-9180B2EDE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4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9343-91CD-0A05-9702-D47374C93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7E6F1-922E-8962-F200-474D7BB43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22F28-E726-6FE5-F0AE-F3E7A0D06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A2DC-A5E9-427C-B507-7A97A025D99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26B3C-0CA0-A805-4EE2-8A2EBF11E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F6FDC-A095-3CB2-8C90-2C6DD7831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EB5-D390-4D4C-A3BB-9180B2EDE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411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BE079-3AF2-D8DD-B2BE-9C59C1D7B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6BED6-3FC7-D6B9-5706-8F6AB5B14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56C5-9564-ED35-AF6F-612E27C47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A2DC-A5E9-427C-B507-7A97A025D99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04F66-727C-4897-511B-12E756AAA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6CCFC-0453-5E0A-A30C-6D8EB3ED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EB5-D390-4D4C-A3BB-9180B2EDE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14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5927-9087-3799-3B7F-B379EFC4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CF8D8-3DB7-76CA-1577-9F85B91C9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A5957-E3B2-67EE-9600-63396B901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80BDB-CAD2-90DD-CC20-CE14078CC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A2DC-A5E9-427C-B507-7A97A025D99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A6486-5544-AC2C-D80F-2F22733F6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48623-CE55-3D33-E62C-82D283C0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EB5-D390-4D4C-A3BB-9180B2EDE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3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29CE9-512A-D3EF-46A3-649CE82B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62263-7422-CE62-FCC6-6142A253F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5A8BF-ED52-FBA1-C068-3FD48401C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DD5994-5DC4-A3EB-316F-841935FED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3D03C7-8AF8-DCAE-E540-0D57DE6AB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28FC48-718E-6FD5-20E0-C256A130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A2DC-A5E9-427C-B507-7A97A025D99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9E8B1B-4986-9F46-F354-5F2ABB727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B1E408-923A-4D51-6F38-6C53FAB9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EB5-D390-4D4C-A3BB-9180B2EDE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2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4140-5120-C88D-58F1-06FB73F9C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7FE81-AEAE-BFB2-B752-232701DAA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A2DC-A5E9-427C-B507-7A97A025D99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5CAA3-71E2-BD53-A7C7-364778D8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86E82-1BD4-3BF8-02A6-16756E4A9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EB5-D390-4D4C-A3BB-9180B2EDE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99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44E67E-4E07-2853-B501-11BADFA83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A2DC-A5E9-427C-B507-7A97A025D99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501C2-E22D-9D2D-1C7C-46857E4D1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F517B-B65D-1D43-9D41-E602941C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EB5-D390-4D4C-A3BB-9180B2EDE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2C54-CC4C-D53B-A112-57EB6FEC9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B5D1E-6619-1E47-B2B8-B905BFEBA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910DD-C7D8-66DC-6261-2C9006257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C5A0B-3730-F225-9048-D7C3D9EB9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A2DC-A5E9-427C-B507-7A97A025D99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F18DF-F75F-DFAE-B591-32ED7E26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4E6EC-DE69-8543-C7F5-D40A0E88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EB5-D390-4D4C-A3BB-9180B2EDE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01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7D9F-D52D-626D-1914-C2BB010D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245EB0-8CE5-03D8-F5A1-77913DDAF0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1263D-4BC6-87F3-E606-223F00663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22DF9-4348-4805-21C2-5866234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A2DC-A5E9-427C-B507-7A97A025D99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55C-06F8-37EC-F6BD-8DDC1D0DD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B8EEA-3575-3A78-E989-31CE852F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EB5-D390-4D4C-A3BB-9180B2EDE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CE8AA-1F82-1236-AEF7-F5B03B3B7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AE40D1-8D82-C777-C6CE-49F207735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CD9CB-5593-E224-4441-1523DCEE2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A2DC-A5E9-427C-B507-7A97A025D99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F4B19-2A0F-42C9-D764-266B968A2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CD811-9233-F855-9262-84E125022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EB5-D390-4D4C-A3BB-9180B2EDE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69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37F68B-31B9-AB72-D1B2-39F21C2FB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948C3-4A55-8395-8588-1444843C0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5B8F9-22BF-54D1-F14F-32EBC231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A2DC-A5E9-427C-B507-7A97A025D99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8F4DD-5198-0A97-622E-EB7A0018E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9DE8C-4C83-4ACE-8362-2AB781FA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EB5-D390-4D4C-A3BB-9180B2EDE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54DB9B-284C-14F6-AA76-5DE0712F2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1B1D8-E2A0-494D-CC5F-CB5B1CA02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5BA1C-1E27-AF70-777F-5A1B2C2B1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F3A2DC-A5E9-427C-B507-7A97A025D99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400C3-4DC7-E92D-759A-8CD331D53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3A584-9B70-8828-0A21-5F4019DB2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D6EB5-D390-4D4C-A3BB-9180B2EDE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6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B27E71E-A5BC-32BA-13A2-3B62A0A2439D}"/>
              </a:ext>
            </a:extLst>
          </p:cNvPr>
          <p:cNvGrpSpPr/>
          <p:nvPr/>
        </p:nvGrpSpPr>
        <p:grpSpPr>
          <a:xfrm>
            <a:off x="196293" y="320543"/>
            <a:ext cx="11783434" cy="5909951"/>
            <a:chOff x="196293" y="320543"/>
            <a:chExt cx="11783434" cy="590995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B5540AE-024C-2A57-CB61-48BD9ABDC490}"/>
                </a:ext>
              </a:extLst>
            </p:cNvPr>
            <p:cNvSpPr/>
            <p:nvPr/>
          </p:nvSpPr>
          <p:spPr>
            <a:xfrm>
              <a:off x="7952010" y="3011501"/>
              <a:ext cx="3133891" cy="3218991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Index.html/style.css</a:t>
              </a:r>
            </a:p>
            <a:p>
              <a:pPr algn="ctr"/>
              <a:r>
                <a:rPr lang="en-US" i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Interactive map </a:t>
              </a:r>
              <a:r>
                <a:rPr lang="en-US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INTERFACE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64ABDD0-C583-957A-B6AC-9D35CFEADA9E}"/>
                </a:ext>
              </a:extLst>
            </p:cNvPr>
            <p:cNvSpPr/>
            <p:nvPr/>
          </p:nvSpPr>
          <p:spPr>
            <a:xfrm>
              <a:off x="4316782" y="3011503"/>
              <a:ext cx="3133891" cy="3218991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App.py</a:t>
              </a:r>
            </a:p>
            <a:p>
              <a:pPr algn="ctr"/>
              <a:r>
                <a:rPr lang="en-US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API LAYER</a:t>
              </a:r>
              <a:r>
                <a:rPr lang="en-US" b="1" i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en-US" i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connecting backend &amp; user interface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B8B937A-89B2-E44B-C40E-F5E210F532E9}"/>
                </a:ext>
              </a:extLst>
            </p:cNvPr>
            <p:cNvSpPr/>
            <p:nvPr/>
          </p:nvSpPr>
          <p:spPr>
            <a:xfrm>
              <a:off x="681554" y="3011501"/>
              <a:ext cx="3133891" cy="3218991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riskClient.py</a:t>
              </a:r>
            </a:p>
            <a:p>
              <a:pPr algn="ctr"/>
              <a:r>
                <a:rPr lang="en-US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BACKEND</a:t>
              </a:r>
              <a:r>
                <a:rPr lang="en-US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en-US" i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logic for data analysis, output structuring, RAG DB</a:t>
              </a: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765D0DF1-F291-1F66-8CA8-67C28C6BF161}"/>
                </a:ext>
              </a:extLst>
            </p:cNvPr>
            <p:cNvSpPr/>
            <p:nvPr/>
          </p:nvSpPr>
          <p:spPr>
            <a:xfrm>
              <a:off x="3562060" y="4188117"/>
              <a:ext cx="1066007" cy="865761"/>
            </a:xfrm>
            <a:prstGeom prst="rightArrow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4382A160-E42D-3805-1DA4-EF9F4F7307CC}"/>
                </a:ext>
              </a:extLst>
            </p:cNvPr>
            <p:cNvSpPr/>
            <p:nvPr/>
          </p:nvSpPr>
          <p:spPr>
            <a:xfrm>
              <a:off x="7139391" y="4188117"/>
              <a:ext cx="1066007" cy="865761"/>
            </a:xfrm>
            <a:prstGeom prst="rightArrow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row: Bent 13">
              <a:extLst>
                <a:ext uri="{FF2B5EF4-FFF2-40B4-BE49-F238E27FC236}">
                  <a16:creationId xmlns:a16="http://schemas.microsoft.com/office/drawing/2014/main" id="{3846DB47-AD5D-317C-28C1-0939A4F34BEE}"/>
                </a:ext>
              </a:extLst>
            </p:cNvPr>
            <p:cNvSpPr/>
            <p:nvPr/>
          </p:nvSpPr>
          <p:spPr>
            <a:xfrm rot="10800000">
              <a:off x="10575701" y="1939284"/>
              <a:ext cx="788983" cy="2127238"/>
            </a:xfrm>
            <a:prstGeom prst="bentArrow">
              <a:avLst>
                <a:gd name="adj1" fmla="val 11420"/>
                <a:gd name="adj2" fmla="val 25000"/>
                <a:gd name="adj3" fmla="val 25000"/>
                <a:gd name="adj4" fmla="val 4375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A12C85-3ECD-C7D0-3699-D6F6909BAF43}"/>
                </a:ext>
              </a:extLst>
            </p:cNvPr>
            <p:cNvSpPr txBox="1"/>
            <p:nvPr/>
          </p:nvSpPr>
          <p:spPr>
            <a:xfrm>
              <a:off x="9789958" y="2089898"/>
              <a:ext cx="218976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Geo query via </a:t>
              </a:r>
            </a:p>
            <a:p>
              <a:r>
                <a:rPr lang="en-US" dirty="0"/>
                <a:t>Map select/ </a:t>
              </a:r>
            </a:p>
            <a:p>
              <a:r>
                <a:rPr lang="en-US" dirty="0"/>
                <a:t>address input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EADDA5-D142-B2D1-989D-2FF75D3B4788}"/>
                </a:ext>
              </a:extLst>
            </p:cNvPr>
            <p:cNvSpPr/>
            <p:nvPr/>
          </p:nvSpPr>
          <p:spPr>
            <a:xfrm>
              <a:off x="10381149" y="1477027"/>
              <a:ext cx="1546698" cy="51556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USER</a:t>
              </a:r>
            </a:p>
          </p:txBody>
        </p:sp>
        <p:sp>
          <p:nvSpPr>
            <p:cNvPr id="17" name="Arrow: Left 16">
              <a:extLst>
                <a:ext uri="{FF2B5EF4-FFF2-40B4-BE49-F238E27FC236}">
                  <a16:creationId xmlns:a16="http://schemas.microsoft.com/office/drawing/2014/main" id="{DA7CF8F7-81E1-CE7D-21DC-0C52A74DA396}"/>
                </a:ext>
              </a:extLst>
            </p:cNvPr>
            <p:cNvSpPr/>
            <p:nvPr/>
          </p:nvSpPr>
          <p:spPr>
            <a:xfrm>
              <a:off x="7139391" y="3672552"/>
              <a:ext cx="3241758" cy="321014"/>
            </a:xfrm>
            <a:prstGeom prst="leftArrow">
              <a:avLst>
                <a:gd name="adj1" fmla="val 25757"/>
                <a:gd name="adj2" fmla="val 5000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F4E19DD-69B4-439F-1BEF-F932C7101453}"/>
                </a:ext>
              </a:extLst>
            </p:cNvPr>
            <p:cNvSpPr/>
            <p:nvPr/>
          </p:nvSpPr>
          <p:spPr>
            <a:xfrm>
              <a:off x="3562060" y="320543"/>
              <a:ext cx="4643338" cy="1573622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row: U-Turn 17">
              <a:extLst>
                <a:ext uri="{FF2B5EF4-FFF2-40B4-BE49-F238E27FC236}">
                  <a16:creationId xmlns:a16="http://schemas.microsoft.com/office/drawing/2014/main" id="{3165973D-660D-8800-4A3C-F2ADB875FA26}"/>
                </a:ext>
              </a:extLst>
            </p:cNvPr>
            <p:cNvSpPr/>
            <p:nvPr/>
          </p:nvSpPr>
          <p:spPr>
            <a:xfrm rot="5400000" flipV="1">
              <a:off x="109541" y="3846856"/>
              <a:ext cx="1050584" cy="877080"/>
            </a:xfrm>
            <a:prstGeom prst="uturnArrow">
              <a:avLst>
                <a:gd name="adj1" fmla="val 13910"/>
                <a:gd name="adj2" fmla="val 25000"/>
                <a:gd name="adj3" fmla="val 28327"/>
                <a:gd name="adj4" fmla="val 43750"/>
                <a:gd name="adj5" fmla="val 7500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6A45558-2771-20E7-B3A3-49EDCB7DB7AD}"/>
                </a:ext>
              </a:extLst>
            </p:cNvPr>
            <p:cNvSpPr txBox="1"/>
            <p:nvPr/>
          </p:nvSpPr>
          <p:spPr>
            <a:xfrm>
              <a:off x="3886853" y="503496"/>
              <a:ext cx="1671094" cy="5901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/>
                <a:t>Fire hazard service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B7AE1B2-7B61-4271-471F-4396C0002104}"/>
                </a:ext>
              </a:extLst>
            </p:cNvPr>
            <p:cNvSpPr txBox="1"/>
            <p:nvPr/>
          </p:nvSpPr>
          <p:spPr>
            <a:xfrm>
              <a:off x="4961713" y="1241459"/>
              <a:ext cx="1546699" cy="5155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/>
                <a:t>Fire history service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1B1A7C7-AAAC-BA57-9F35-7BEC0F0CCF85}"/>
                </a:ext>
              </a:extLst>
            </p:cNvPr>
            <p:cNvSpPr txBox="1"/>
            <p:nvPr/>
          </p:nvSpPr>
          <p:spPr>
            <a:xfrm>
              <a:off x="5912093" y="524648"/>
              <a:ext cx="2039917" cy="5901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 err="1"/>
                <a:t>Zhvi</a:t>
              </a:r>
              <a:r>
                <a:rPr lang="en-US" dirty="0"/>
                <a:t> service </a:t>
              </a:r>
            </a:p>
            <a:p>
              <a:r>
                <a:rPr lang="en-US" dirty="0"/>
                <a:t>(Zillow home </a:t>
              </a:r>
              <a:r>
                <a:rPr lang="en-US" dirty="0" err="1"/>
                <a:t>val</a:t>
              </a:r>
              <a:r>
                <a:rPr lang="en-US" dirty="0"/>
                <a:t>)</a:t>
              </a:r>
            </a:p>
          </p:txBody>
        </p:sp>
        <p:sp>
          <p:nvSpPr>
            <p:cNvPr id="26" name="Arrow: Left 25">
              <a:extLst>
                <a:ext uri="{FF2B5EF4-FFF2-40B4-BE49-F238E27FC236}">
                  <a16:creationId xmlns:a16="http://schemas.microsoft.com/office/drawing/2014/main" id="{C2659D8A-02F8-2C3A-00F2-74F336B69072}"/>
                </a:ext>
              </a:extLst>
            </p:cNvPr>
            <p:cNvSpPr/>
            <p:nvPr/>
          </p:nvSpPr>
          <p:spPr>
            <a:xfrm>
              <a:off x="1165148" y="3623564"/>
              <a:ext cx="4643338" cy="378425"/>
            </a:xfrm>
            <a:prstGeom prst="leftArrow">
              <a:avLst>
                <a:gd name="adj1" fmla="val 25757"/>
                <a:gd name="adj2" fmla="val 5000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D5A7B8C0-2272-76FE-56C4-3052392E4CAF}"/>
                </a:ext>
              </a:extLst>
            </p:cNvPr>
            <p:cNvSpPr/>
            <p:nvPr/>
          </p:nvSpPr>
          <p:spPr>
            <a:xfrm>
              <a:off x="5228789" y="1894165"/>
              <a:ext cx="1234284" cy="2099401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2A743EB-9BDF-2128-9820-50B794FB6ED5}"/>
                </a:ext>
              </a:extLst>
            </p:cNvPr>
            <p:cNvSpPr txBox="1"/>
            <p:nvPr/>
          </p:nvSpPr>
          <p:spPr>
            <a:xfrm>
              <a:off x="4925622" y="2186416"/>
              <a:ext cx="1932376" cy="54051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Trend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3555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10581-AF94-11E4-95C0-D453BE8A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2D39D2C7-3FD5-3FD6-CC53-E78F8D531454}"/>
              </a:ext>
            </a:extLst>
          </p:cNvPr>
          <p:cNvGrpSpPr/>
          <p:nvPr/>
        </p:nvGrpSpPr>
        <p:grpSpPr>
          <a:xfrm>
            <a:off x="196293" y="15156"/>
            <a:ext cx="12113337" cy="6773670"/>
            <a:chOff x="196293" y="15156"/>
            <a:chExt cx="12113337" cy="677367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D07D2B9-5EBC-7E94-FA6E-88259D4838C4}"/>
                </a:ext>
              </a:extLst>
            </p:cNvPr>
            <p:cNvSpPr/>
            <p:nvPr/>
          </p:nvSpPr>
          <p:spPr>
            <a:xfrm>
              <a:off x="8007427" y="2872955"/>
              <a:ext cx="3133891" cy="196156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Index.html/style.css</a:t>
              </a:r>
            </a:p>
            <a:p>
              <a:pPr algn="ctr"/>
              <a:r>
                <a:rPr lang="en-US" i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Interactive map </a:t>
              </a:r>
              <a:r>
                <a:rPr lang="en-US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INTERFACE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E996227-E328-00CD-BEB4-F04EE280F764}"/>
                </a:ext>
              </a:extLst>
            </p:cNvPr>
            <p:cNvSpPr/>
            <p:nvPr/>
          </p:nvSpPr>
          <p:spPr>
            <a:xfrm>
              <a:off x="4372199" y="2872957"/>
              <a:ext cx="3133891" cy="196156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App.py</a:t>
              </a:r>
            </a:p>
            <a:p>
              <a:pPr algn="ctr"/>
              <a:r>
                <a:rPr lang="en-US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API LAYER</a:t>
              </a:r>
              <a:r>
                <a:rPr lang="en-US" b="1" i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en-US" i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connecting backend &amp; user interface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C7675CE-E296-68B2-6565-72BC89411145}"/>
                </a:ext>
              </a:extLst>
            </p:cNvPr>
            <p:cNvSpPr/>
            <p:nvPr/>
          </p:nvSpPr>
          <p:spPr>
            <a:xfrm>
              <a:off x="736971" y="2872955"/>
              <a:ext cx="3133891" cy="196156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riskClient.py</a:t>
              </a:r>
            </a:p>
            <a:p>
              <a:pPr algn="ctr"/>
              <a:r>
                <a:rPr lang="en-US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BACKEND</a:t>
              </a:r>
              <a:r>
                <a:rPr lang="en-US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en-US" i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logic for data analysis, output structuring, RAG DB</a:t>
              </a: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3A57EEFC-8AEF-063F-FCAC-25FA2E436394}"/>
                </a:ext>
              </a:extLst>
            </p:cNvPr>
            <p:cNvSpPr/>
            <p:nvPr/>
          </p:nvSpPr>
          <p:spPr>
            <a:xfrm>
              <a:off x="3737550" y="3513867"/>
              <a:ext cx="1066007" cy="865761"/>
            </a:xfrm>
            <a:prstGeom prst="rightArrow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714F1514-EE82-B1FA-F701-AB38E2F5A007}"/>
                </a:ext>
              </a:extLst>
            </p:cNvPr>
            <p:cNvSpPr/>
            <p:nvPr/>
          </p:nvSpPr>
          <p:spPr>
            <a:xfrm>
              <a:off x="7314881" y="3513867"/>
              <a:ext cx="1066007" cy="865761"/>
            </a:xfrm>
            <a:prstGeom prst="rightArrow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row: Bent 13">
              <a:extLst>
                <a:ext uri="{FF2B5EF4-FFF2-40B4-BE49-F238E27FC236}">
                  <a16:creationId xmlns:a16="http://schemas.microsoft.com/office/drawing/2014/main" id="{09630D37-F4D3-7B69-4C7C-2F69362D7B75}"/>
                </a:ext>
              </a:extLst>
            </p:cNvPr>
            <p:cNvSpPr/>
            <p:nvPr/>
          </p:nvSpPr>
          <p:spPr>
            <a:xfrm rot="10800000">
              <a:off x="9550164" y="1223977"/>
              <a:ext cx="788983" cy="2127238"/>
            </a:xfrm>
            <a:prstGeom prst="bentArrow">
              <a:avLst>
                <a:gd name="adj1" fmla="val 11420"/>
                <a:gd name="adj2" fmla="val 25000"/>
                <a:gd name="adj3" fmla="val 25000"/>
                <a:gd name="adj4" fmla="val 4375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Arrow: Bent 27">
              <a:extLst>
                <a:ext uri="{FF2B5EF4-FFF2-40B4-BE49-F238E27FC236}">
                  <a16:creationId xmlns:a16="http://schemas.microsoft.com/office/drawing/2014/main" id="{2B6406A8-4F16-CA73-73D9-8FBFCB75C973}"/>
                </a:ext>
              </a:extLst>
            </p:cNvPr>
            <p:cNvSpPr/>
            <p:nvPr/>
          </p:nvSpPr>
          <p:spPr>
            <a:xfrm rot="10800000">
              <a:off x="10954558" y="1018687"/>
              <a:ext cx="788983" cy="2127238"/>
            </a:xfrm>
            <a:prstGeom prst="bentArrow">
              <a:avLst>
                <a:gd name="adj1" fmla="val 11420"/>
                <a:gd name="adj2" fmla="val 25000"/>
                <a:gd name="adj3" fmla="val 25000"/>
                <a:gd name="adj4" fmla="val 4375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598AFF-E445-A6D4-0A5F-92B6526C6AA9}"/>
                </a:ext>
              </a:extLst>
            </p:cNvPr>
            <p:cNvSpPr/>
            <p:nvPr/>
          </p:nvSpPr>
          <p:spPr>
            <a:xfrm>
              <a:off x="10575701" y="130908"/>
              <a:ext cx="1546698" cy="51556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USER</a:t>
              </a:r>
            </a:p>
          </p:txBody>
        </p:sp>
        <p:sp>
          <p:nvSpPr>
            <p:cNvPr id="17" name="Arrow: Left 16">
              <a:extLst>
                <a:ext uri="{FF2B5EF4-FFF2-40B4-BE49-F238E27FC236}">
                  <a16:creationId xmlns:a16="http://schemas.microsoft.com/office/drawing/2014/main" id="{870AB055-98F4-A6D1-D4F3-27A8F6821E02}"/>
                </a:ext>
              </a:extLst>
            </p:cNvPr>
            <p:cNvSpPr/>
            <p:nvPr/>
          </p:nvSpPr>
          <p:spPr>
            <a:xfrm>
              <a:off x="6135880" y="2992288"/>
              <a:ext cx="3241758" cy="321014"/>
            </a:xfrm>
            <a:prstGeom prst="leftArrow">
              <a:avLst>
                <a:gd name="adj1" fmla="val 25757"/>
                <a:gd name="adj2" fmla="val 5000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BCD2F8C-A613-D80C-535A-216BB002F22B}"/>
                </a:ext>
              </a:extLst>
            </p:cNvPr>
            <p:cNvSpPr/>
            <p:nvPr/>
          </p:nvSpPr>
          <p:spPr>
            <a:xfrm>
              <a:off x="3562060" y="15156"/>
              <a:ext cx="4389950" cy="1768174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row: U-Turn 17">
              <a:extLst>
                <a:ext uri="{FF2B5EF4-FFF2-40B4-BE49-F238E27FC236}">
                  <a16:creationId xmlns:a16="http://schemas.microsoft.com/office/drawing/2014/main" id="{7B473560-2195-D532-828D-55A46EA77A09}"/>
                </a:ext>
              </a:extLst>
            </p:cNvPr>
            <p:cNvSpPr/>
            <p:nvPr/>
          </p:nvSpPr>
          <p:spPr>
            <a:xfrm rot="5400000" flipV="1">
              <a:off x="109541" y="3172606"/>
              <a:ext cx="1050584" cy="877080"/>
            </a:xfrm>
            <a:prstGeom prst="uturnArrow">
              <a:avLst>
                <a:gd name="adj1" fmla="val 13910"/>
                <a:gd name="adj2" fmla="val 25000"/>
                <a:gd name="adj3" fmla="val 28327"/>
                <a:gd name="adj4" fmla="val 43750"/>
                <a:gd name="adj5" fmla="val 7500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E56FD6-533B-E5D7-5989-BBBA466C86CC}"/>
                </a:ext>
              </a:extLst>
            </p:cNvPr>
            <p:cNvSpPr txBox="1"/>
            <p:nvPr/>
          </p:nvSpPr>
          <p:spPr>
            <a:xfrm>
              <a:off x="10448365" y="1783330"/>
              <a:ext cx="1546698" cy="923330"/>
            </a:xfrm>
            <a:prstGeom prst="rect">
              <a:avLst/>
            </a:prstGeom>
            <a:solidFill>
              <a:srgbClr val="F2F2F2">
                <a:alpha val="8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Geo query via </a:t>
              </a:r>
            </a:p>
            <a:p>
              <a:r>
                <a:rPr lang="en-US" dirty="0"/>
                <a:t>Map select/ </a:t>
              </a:r>
            </a:p>
            <a:p>
              <a:r>
                <a:rPr lang="en-US" dirty="0"/>
                <a:t>address input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E4487B1-4444-2981-CCCD-B73AD52C545B}"/>
                </a:ext>
              </a:extLst>
            </p:cNvPr>
            <p:cNvSpPr txBox="1"/>
            <p:nvPr/>
          </p:nvSpPr>
          <p:spPr>
            <a:xfrm>
              <a:off x="4252532" y="44073"/>
              <a:ext cx="3389002" cy="1679979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/>
              <a:r>
                <a:rPr lang="en-US" sz="1300" dirty="0"/>
                <a:t>QUERYABLE SERVICES</a:t>
              </a:r>
            </a:p>
            <a:p>
              <a:pPr marL="285750" indent="-285750" algn="l">
                <a:buFont typeface="+mj-lt"/>
                <a:buAutoNum type="arabicPeriod"/>
              </a:pPr>
              <a:r>
                <a:rPr lang="en-US" sz="1300" dirty="0"/>
                <a:t>Fire hazard service </a:t>
              </a:r>
              <a:r>
                <a:rPr lang="en-US" sz="1300" b="0" dirty="0"/>
                <a:t>(hazard zones)</a:t>
              </a:r>
            </a:p>
            <a:p>
              <a:pPr marL="285750" indent="-285750" algn="l">
                <a:buFont typeface="+mj-lt"/>
                <a:buAutoNum type="arabicPeriod"/>
              </a:pPr>
              <a:r>
                <a:rPr lang="en-US" sz="1300" dirty="0" err="1"/>
                <a:t>zhvi</a:t>
              </a:r>
              <a:r>
                <a:rPr lang="en-US" sz="1300" dirty="0"/>
                <a:t> service </a:t>
              </a:r>
              <a:r>
                <a:rPr lang="en-US" sz="1300" b="0" dirty="0"/>
                <a:t>(Zillow home values)</a:t>
              </a:r>
            </a:p>
            <a:p>
              <a:pPr marL="285750" indent="-285750" algn="l">
                <a:buFont typeface="+mj-lt"/>
                <a:buAutoNum type="arabicPeriod"/>
              </a:pPr>
              <a:r>
                <a:rPr lang="en-US" sz="1300" dirty="0"/>
                <a:t>Fire history service </a:t>
              </a:r>
              <a:r>
                <a:rPr lang="en-US" sz="1300" b="0" dirty="0"/>
                <a:t>(historic fire events)</a:t>
              </a:r>
            </a:p>
            <a:p>
              <a:pPr marL="285750" indent="-285750" algn="l">
                <a:buFont typeface="+mj-lt"/>
                <a:buAutoNum type="arabicPeriod"/>
              </a:pPr>
              <a:r>
                <a:rPr lang="en-US" sz="1300" dirty="0"/>
                <a:t>Damage inspection service</a:t>
              </a:r>
            </a:p>
            <a:p>
              <a:pPr algn="l"/>
              <a:r>
                <a:rPr lang="en-US" sz="1300" b="0" dirty="0"/>
                <a:t>        (proximity to fire-damaged structures +</a:t>
              </a:r>
            </a:p>
            <a:p>
              <a:pPr algn="l"/>
              <a:r>
                <a:rPr lang="en-US" sz="1300" b="0" dirty="0"/>
                <a:t>         characteristics)</a:t>
              </a:r>
            </a:p>
            <a:p>
              <a:pPr algn="l"/>
              <a:r>
                <a:rPr lang="en-US" sz="1300" dirty="0"/>
                <a:t>5.    DOI service </a:t>
              </a:r>
              <a:r>
                <a:rPr lang="en-US" sz="1300" b="0" dirty="0"/>
                <a:t>(Insurance renewal)</a:t>
              </a:r>
            </a:p>
          </p:txBody>
        </p:sp>
        <p:sp>
          <p:nvSpPr>
            <p:cNvPr id="26" name="Arrow: Left 25">
              <a:extLst>
                <a:ext uri="{FF2B5EF4-FFF2-40B4-BE49-F238E27FC236}">
                  <a16:creationId xmlns:a16="http://schemas.microsoft.com/office/drawing/2014/main" id="{778A5ADD-B728-85A3-6C35-6DAEBC97C164}"/>
                </a:ext>
              </a:extLst>
            </p:cNvPr>
            <p:cNvSpPr/>
            <p:nvPr/>
          </p:nvSpPr>
          <p:spPr>
            <a:xfrm>
              <a:off x="1165148" y="2949314"/>
              <a:ext cx="4643338" cy="378425"/>
            </a:xfrm>
            <a:prstGeom prst="leftArrow">
              <a:avLst>
                <a:gd name="adj1" fmla="val 25757"/>
                <a:gd name="adj2" fmla="val 5000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D8DE2861-44FB-F8EB-69A2-826F5F0CCFC7}"/>
                </a:ext>
              </a:extLst>
            </p:cNvPr>
            <p:cNvSpPr/>
            <p:nvPr/>
          </p:nvSpPr>
          <p:spPr>
            <a:xfrm>
              <a:off x="5228789" y="1783331"/>
              <a:ext cx="1234284" cy="1302523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C195112-6E1C-DC61-DDEA-D0F2861194AD}"/>
                </a:ext>
              </a:extLst>
            </p:cNvPr>
            <p:cNvSpPr txBox="1"/>
            <p:nvPr/>
          </p:nvSpPr>
          <p:spPr>
            <a:xfrm>
              <a:off x="4925622" y="1890855"/>
              <a:ext cx="1932376" cy="44812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Trend Analysis</a:t>
              </a: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301D6EA-C26C-E7D4-94F4-B43FEAB67FB6}"/>
                </a:ext>
              </a:extLst>
            </p:cNvPr>
            <p:cNvSpPr/>
            <p:nvPr/>
          </p:nvSpPr>
          <p:spPr>
            <a:xfrm>
              <a:off x="1165148" y="5020652"/>
              <a:ext cx="2945034" cy="1768174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>
                  <a:solidFill>
                    <a:schemeClr val="tx2"/>
                  </a:solidFill>
                </a:rPr>
                <a:t>RAG DATABASE</a:t>
              </a:r>
            </a:p>
            <a:p>
              <a:pPr marL="285750" indent="-285750">
                <a:buFontTx/>
                <a:buChar char="-"/>
              </a:pPr>
              <a:r>
                <a:rPr lang="en-US" sz="1700" dirty="0" err="1">
                  <a:solidFill>
                    <a:schemeClr val="tx2"/>
                  </a:solidFill>
                </a:rPr>
                <a:t>FairPlan</a:t>
              </a:r>
              <a:r>
                <a:rPr lang="en-US" sz="1700" dirty="0">
                  <a:solidFill>
                    <a:schemeClr val="tx2"/>
                  </a:solidFill>
                </a:rPr>
                <a:t>/ insurance docs</a:t>
              </a:r>
            </a:p>
            <a:p>
              <a:pPr marL="285750" indent="-285750">
                <a:buFontTx/>
                <a:buChar char="-"/>
              </a:pPr>
              <a:r>
                <a:rPr lang="en-US" sz="1700" dirty="0">
                  <a:solidFill>
                    <a:schemeClr val="tx2"/>
                  </a:solidFill>
                </a:rPr>
                <a:t>Home hardening info/recs</a:t>
              </a:r>
            </a:p>
            <a:p>
              <a:pPr marL="285750" indent="-285750">
                <a:buFontTx/>
                <a:buChar char="-"/>
              </a:pPr>
              <a:r>
                <a:rPr lang="en-US" sz="1700" dirty="0">
                  <a:solidFill>
                    <a:schemeClr val="tx2"/>
                  </a:solidFill>
                </a:rPr>
                <a:t>Wildfire safety docs</a:t>
              </a:r>
            </a:p>
            <a:p>
              <a:endParaRPr lang="en-US" sz="1700" dirty="0">
                <a:solidFill>
                  <a:schemeClr val="tx2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39F73C6-178C-69A2-86A2-28F7090CCFF1}"/>
                </a:ext>
              </a:extLst>
            </p:cNvPr>
            <p:cNvSpPr txBox="1"/>
            <p:nvPr/>
          </p:nvSpPr>
          <p:spPr>
            <a:xfrm>
              <a:off x="9910618" y="775854"/>
              <a:ext cx="960580" cy="44812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Owner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9230479-BA94-FE5A-F6EB-60E1FA9214DE}"/>
                </a:ext>
              </a:extLst>
            </p:cNvPr>
            <p:cNvSpPr txBox="1"/>
            <p:nvPr/>
          </p:nvSpPr>
          <p:spPr>
            <a:xfrm>
              <a:off x="11349050" y="754485"/>
              <a:ext cx="960580" cy="4481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Buyer</a:t>
              </a:r>
            </a:p>
          </p:txBody>
        </p:sp>
        <p:sp>
          <p:nvSpPr>
            <p:cNvPr id="29" name="Arrow: Left 28">
              <a:extLst>
                <a:ext uri="{FF2B5EF4-FFF2-40B4-BE49-F238E27FC236}">
                  <a16:creationId xmlns:a16="http://schemas.microsoft.com/office/drawing/2014/main" id="{9595C5B9-DA02-A25C-BF54-44B01485E83D}"/>
                </a:ext>
              </a:extLst>
            </p:cNvPr>
            <p:cNvSpPr/>
            <p:nvPr/>
          </p:nvSpPr>
          <p:spPr>
            <a:xfrm>
              <a:off x="6372433" y="2700921"/>
              <a:ext cx="4203267" cy="358048"/>
            </a:xfrm>
            <a:prstGeom prst="leftArrow">
              <a:avLst>
                <a:gd name="adj1" fmla="val 25757"/>
                <a:gd name="adj2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row: U-Turn 29">
              <a:extLst>
                <a:ext uri="{FF2B5EF4-FFF2-40B4-BE49-F238E27FC236}">
                  <a16:creationId xmlns:a16="http://schemas.microsoft.com/office/drawing/2014/main" id="{9571C847-6A9F-5320-8D2F-4ED62E59D238}"/>
                </a:ext>
              </a:extLst>
            </p:cNvPr>
            <p:cNvSpPr/>
            <p:nvPr/>
          </p:nvSpPr>
          <p:spPr>
            <a:xfrm rot="5400000" flipV="1">
              <a:off x="346095" y="2881239"/>
              <a:ext cx="1050584" cy="877080"/>
            </a:xfrm>
            <a:prstGeom prst="uturnArrow">
              <a:avLst>
                <a:gd name="adj1" fmla="val 13910"/>
                <a:gd name="adj2" fmla="val 25000"/>
                <a:gd name="adj3" fmla="val 28327"/>
                <a:gd name="adj4" fmla="val 43750"/>
                <a:gd name="adj5" fmla="val 75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Arrow: Left 30">
              <a:extLst>
                <a:ext uri="{FF2B5EF4-FFF2-40B4-BE49-F238E27FC236}">
                  <a16:creationId xmlns:a16="http://schemas.microsoft.com/office/drawing/2014/main" id="{29567AA4-A29E-9579-076A-86776C6B9C03}"/>
                </a:ext>
              </a:extLst>
            </p:cNvPr>
            <p:cNvSpPr/>
            <p:nvPr/>
          </p:nvSpPr>
          <p:spPr>
            <a:xfrm>
              <a:off x="1401702" y="2657947"/>
              <a:ext cx="4643338" cy="378425"/>
            </a:xfrm>
            <a:prstGeom prst="leftArrow">
              <a:avLst>
                <a:gd name="adj1" fmla="val 25757"/>
                <a:gd name="adj2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8DF8BF0F-E8D4-DCF1-CF57-6CB05501BE93}"/>
                </a:ext>
              </a:extLst>
            </p:cNvPr>
            <p:cNvSpPr/>
            <p:nvPr/>
          </p:nvSpPr>
          <p:spPr>
            <a:xfrm>
              <a:off x="3818084" y="3479674"/>
              <a:ext cx="787502" cy="865761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9D1BF405-5C20-A2ED-7EBF-E7DFBEB5BEF5}"/>
                </a:ext>
              </a:extLst>
            </p:cNvPr>
            <p:cNvSpPr/>
            <p:nvPr/>
          </p:nvSpPr>
          <p:spPr>
            <a:xfrm>
              <a:off x="7388446" y="3479674"/>
              <a:ext cx="794472" cy="865761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Arrow: Left 33">
              <a:extLst>
                <a:ext uri="{FF2B5EF4-FFF2-40B4-BE49-F238E27FC236}">
                  <a16:creationId xmlns:a16="http://schemas.microsoft.com/office/drawing/2014/main" id="{FAAF1811-5EF3-A643-11B4-6545BB5E7339}"/>
                </a:ext>
              </a:extLst>
            </p:cNvPr>
            <p:cNvSpPr/>
            <p:nvPr/>
          </p:nvSpPr>
          <p:spPr>
            <a:xfrm rot="16200000">
              <a:off x="9678886" y="4736168"/>
              <a:ext cx="909965" cy="378426"/>
            </a:xfrm>
            <a:prstGeom prst="leftArrow">
              <a:avLst>
                <a:gd name="adj1" fmla="val 25757"/>
                <a:gd name="adj2" fmla="val 5000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Arrow: Left 34">
              <a:extLst>
                <a:ext uri="{FF2B5EF4-FFF2-40B4-BE49-F238E27FC236}">
                  <a16:creationId xmlns:a16="http://schemas.microsoft.com/office/drawing/2014/main" id="{7520ABAD-1F32-F012-CEC8-E6E460296D8C}"/>
                </a:ext>
              </a:extLst>
            </p:cNvPr>
            <p:cNvSpPr/>
            <p:nvPr/>
          </p:nvSpPr>
          <p:spPr>
            <a:xfrm rot="16200000">
              <a:off x="10277218" y="4736168"/>
              <a:ext cx="909965" cy="378426"/>
            </a:xfrm>
            <a:prstGeom prst="leftArrow">
              <a:avLst>
                <a:gd name="adj1" fmla="val 25757"/>
                <a:gd name="adj2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3792F65-72B6-5544-098C-50C1AAC6C501}"/>
                </a:ext>
              </a:extLst>
            </p:cNvPr>
            <p:cNvSpPr txBox="1"/>
            <p:nvPr/>
          </p:nvSpPr>
          <p:spPr>
            <a:xfrm>
              <a:off x="9487785" y="5380364"/>
              <a:ext cx="960580" cy="90996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Owner Risk Report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2E8CA04-1C20-B237-B586-CA3B075A7D1D}"/>
                </a:ext>
              </a:extLst>
            </p:cNvPr>
            <p:cNvSpPr txBox="1"/>
            <p:nvPr/>
          </p:nvSpPr>
          <p:spPr>
            <a:xfrm>
              <a:off x="10575700" y="5380364"/>
              <a:ext cx="960580" cy="9099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Buyer Risk Report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579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13814</TotalTime>
  <Words>170</Words>
  <Application>Microsoft Office PowerPoint</Application>
  <PresentationFormat>Widescreen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Lopez Davila, Yvonne M</dc:creator>
  <cp:lastModifiedBy>Lopez Davila, Yvonne M</cp:lastModifiedBy>
  <cp:revision>3</cp:revision>
  <dcterms:created xsi:type="dcterms:W3CDTF">2026-03-31T23:52:56Z</dcterms:created>
  <dcterms:modified xsi:type="dcterms:W3CDTF">2026-04-30T03:52:11Z</dcterms:modified>
</cp:coreProperties>
</file>